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305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tardes. Quiero presentar Huellitas del Viajero, un prototipo Android que desarrollé durante el curso. La idea es mostrar cómo podríamos organizar perfiles de perros vulnerables y reportes de ejemplo. Voy a enseñar lo que realmente funciona y qué requeriría una versión disponible para organizaciones y ciudadanos.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que elegí es la dispersión de información. Muchas personas quieren ayudar, pero no siempre saben dónde consultar perfiles, reportar un caso o conocer su estado. La aplicación no resuelve aún las operaciones de rescate; primero demuestra una interfaz que podría organizar esos recorridos.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 propone tres entradas desde el inicio. Ver perritos permite consultar perfiles ficticios; Apadrinar explica una iniciativa posible y Reportar caso muestra cómo registrar información de prueba. Quise conservar un recorrido simple y enfatizar que no hay pagos, envíos ni solicitudes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módulo 5 ya tenía la navegación principal; en el módulo 8 agregué el panel administrativo de demostración. El flujo es fácil de entender: desde inicio se entra a perfiles, apadrinamiento, reporte o panel de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muestro una distinción importante. El usuario registra información ficticia, y el panel permite revisar el reporte y cambiar su estado. Esta pantalla administrativa no tiene autenticación ni roles, así que no es segura para gestión real de casos.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las capturas se puede comprobar que ejecuté la aplicación en Pixel 7, ingresé un reporte ficticio, lo visualicé en el panel y cambié sus estados. También intenté guardar el formulario vacío y aparecieron mensajes específicos para los campos obligatorios.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prototipo utiliza Kotlin y Jetpack Compose. El código incluye almacenamiento local. Ya vimos datos visibles en la sesión, pero la prueba de persistencia después de cerrar por completo y abrir la app todavía debe documentarse. Y no tenemos autenticación ni servicios reales, así que estoy presentando una demostración responsable.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pensara en una continuación del proyecto, la primera etapa sería validar la experiencia y completar pruebas. Después vendrían la seguridad y los permisos. Solo entonces tendría sentido hablar con organizaciones de bienestar animal para evaluar un piloto, con criterios de privacidad y responsables claros.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presentara esto a un inversionista, no tendría sentido hablar de adopciones o ingresos no existentes. La propuesta inicial sería validar la herramienta con una entidad interesada, primero en un piloto acotado. Los indicadores deberían medir facilidad de uso, calidad del reporte, seguimiento y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cerrar, considero que el valor del proyecto es demostrar una experiencia sencilla que podría conectar personas y bienestar animal, siempre que se acompañe de procesos serios. El prototipo no está listo para producción, pero permitió aplicar diseño móvil, navegación, validación y seguimiento de información ficticia. Muchas gracias. Fuente de la información técnica: código del proyecto, capturas propias y documentación del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DCC9F6"/>
          </a:solidFill>
          <a:ln w="12700">
            <a:solidFill>
              <a:srgbClr val="DCC9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768096" y="71323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DCC9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HUELLITAS DEL VIAJERO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8096" y="1417320"/>
            <a:ext cx="6903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idea para conectar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 y bienestar animal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8096" y="376732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ED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 Android · Presentación del módulo 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8096" y="60533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Johan Dario Tellez Bonilla  |  Saint Leo University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58200" y="914400"/>
            <a:ext cx="3108960" cy="5166360"/>
          </a:xfrm>
          <a:prstGeom prst="roundRect">
            <a:avLst/>
          </a:prstGeom>
          <a:solidFill>
            <a:srgbClr val="F2EBFA"/>
          </a:solidFill>
          <a:ln w="12700">
            <a:solidFill>
              <a:srgbClr val="F2EB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0" descr="/mnt/data/_huellitas_m8_final/cropped/01-inicio-m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5325" y="1033272"/>
            <a:ext cx="2314711" cy="4892040"/>
          </a:xfrm>
          <a:prstGeom prst="rect">
            <a:avLst/>
          </a:prstGeom>
        </p:spPr>
      </p:pic>
      <p:pic>
        <p:nvPicPr>
          <p:cNvPr id="9" name="Image 1" descr="/mnt/data/_huellitas_m8_final/imag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5074920"/>
            <a:ext cx="2834640" cy="685800"/>
          </a:xfrm>
          <a:prstGeom prst="rect">
            <a:avLst/>
          </a:prstGeom>
        </p:spPr>
      </p:pic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88349106-B03B-477F-00F9-F820FF46FA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916"/>
    </mc:Choice>
    <mc:Fallback>
      <p:transition spd="slow" advTm="559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"/>
          </a:xfrm>
          <a:prstGeom prst="rect">
            <a:avLst/>
          </a:prstGeom>
          <a:solidFill>
            <a:srgbClr val="6553A2"/>
          </a:solidFill>
          <a:ln w="12700">
            <a:solidFill>
              <a:srgbClr val="6553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ACADÉMICO · COM-437ES-AVO1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problema: información dispersa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6437376"/>
            <a:ext cx="10835640" cy="0"/>
          </a:xfrm>
          <a:prstGeom prst="line">
            <a:avLst/>
          </a:prstGeom>
          <a:solidFill>
            <a:srgbClr val="FFFFFF"/>
          </a:solidFill>
          <a:ln w="12700">
            <a:solidFill>
              <a:srgbClr val="DCC9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67512" y="651052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7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HUELLITAS DEL VIAJERO   •   OCTUBRE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09376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35204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905256" y="177393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fragmentada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05256" y="2304288"/>
            <a:ext cx="3026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historias de animales vulnerables pueden circular en diferentes canales, dificultando consultar casos y entender cómo colaborar.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4343400" y="1554480"/>
            <a:ext cx="35204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90288" y="177393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difícil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0288" y="2304288"/>
            <a:ext cx="3026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reporte sin un proceso de verificación puede perderse o quedar sin responsable. Se necesita claridad sobre su estado.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8037576" y="1554480"/>
            <a:ext cx="35204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284464" y="177393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Confianza y cuidado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84464" y="2304288"/>
            <a:ext cx="3026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publicaciones reales exigen revisión, privacidad y colaboración con organizaciones competentes.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777240" y="539496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Oportunidad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40280" y="5376672"/>
            <a:ext cx="8686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 una experiencia sencilla antes de conectar procesos reales.</a:t>
            </a:r>
            <a:endParaRPr lang="en-US" sz="1800" dirty="0"/>
          </a:p>
        </p:txBody>
      </p:sp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D65A34FC-5BF5-25A9-829A-0F059BF017B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850"/>
    </mc:Choice>
    <mc:Fallback>
      <p:transition spd="slow" advTm="528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"/>
          </a:xfrm>
          <a:prstGeom prst="rect">
            <a:avLst/>
          </a:prstGeom>
          <a:solidFill>
            <a:srgbClr val="6553A2"/>
          </a:solidFill>
          <a:ln w="12700">
            <a:solidFill>
              <a:srgbClr val="6553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ACADÉMICO · COM-437ES-AVO1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propuesta: tres caminos claros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6437376"/>
            <a:ext cx="10835640" cy="0"/>
          </a:xfrm>
          <a:prstGeom prst="line">
            <a:avLst/>
          </a:prstGeom>
          <a:solidFill>
            <a:srgbClr val="FFFFFF"/>
          </a:solidFill>
          <a:ln w="12700">
            <a:solidFill>
              <a:srgbClr val="DCC9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67512" y="651052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7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HUELLITAS DEL VIAJERO   •   OCTUBRE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09376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600200"/>
            <a:ext cx="33375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996696" y="1819656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Ver perritos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96696" y="2350008"/>
            <a:ext cx="28437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 tres perfiles ficticios y abrir el detalle de cada historia.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4416552" y="1600200"/>
            <a:ext cx="33375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663440" y="1819656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Apadrinar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8437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alternativas de apoyo mediante contenido de ejemplo, sin recibir donaciones.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8083296" y="1600200"/>
            <a:ext cx="33375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330184" y="1819656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Reportar caso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30184" y="2350008"/>
            <a:ext cx="28437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un caso ficticio con descripción y ubicación y consultar su seguimiento local.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822960" y="5532120"/>
            <a:ext cx="10515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Principio de diseño: pocas opciones, información clara y mensajes que eviten confundir una demo con un servicio real.</a:t>
            </a:r>
            <a:endParaRPr lang="en-US" sz="1600" dirty="0"/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2828EA67-ABB3-7574-F7AE-55ACC49A8C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147"/>
    </mc:Choice>
    <mc:Fallback>
      <p:transition spd="slow" advTm="571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"/>
          </a:xfrm>
          <a:prstGeom prst="rect">
            <a:avLst/>
          </a:prstGeom>
          <a:solidFill>
            <a:srgbClr val="6553A2"/>
          </a:solidFill>
          <a:ln w="12700">
            <a:solidFill>
              <a:srgbClr val="6553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ACADÉMICO · COM-437ES-AVO1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del usuario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6437376"/>
            <a:ext cx="10835640" cy="0"/>
          </a:xfrm>
          <a:prstGeom prst="line">
            <a:avLst/>
          </a:prstGeom>
          <a:solidFill>
            <a:srgbClr val="FFFFFF"/>
          </a:solidFill>
          <a:ln w="12700">
            <a:solidFill>
              <a:srgbClr val="DCC9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67512" y="651052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7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HUELLITAS DEL VIAJERO   •   OCTUBRE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09376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pic>
        <p:nvPicPr>
          <p:cNvPr id="8" name="Image 0" descr="/mnt/data/_huellitas_m8_final/cropped/01-inicio-m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381" y="1517904"/>
            <a:ext cx="2098382" cy="4434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51960" y="1755648"/>
            <a:ext cx="6903720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4700016" y="2029968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681728" y="2587752"/>
            <a:ext cx="2331720" cy="484632"/>
          </a:xfrm>
          <a:prstGeom prst="roundRect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4864608" y="26883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perritos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04888" y="2660904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452360" y="265176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→ Detalle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81728" y="3310128"/>
            <a:ext cx="2331720" cy="484632"/>
          </a:xfrm>
          <a:prstGeom prst="roundRect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4864608" y="34107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Apadrinar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104888" y="3383280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452360" y="337413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→ Sin pago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681728" y="4032504"/>
            <a:ext cx="2331720" cy="484632"/>
          </a:xfrm>
          <a:prstGeom prst="roundRect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4864608" y="41330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Reportar caso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104888" y="4105656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7452360" y="409651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→ Guardar local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681728" y="4754880"/>
            <a:ext cx="2331720" cy="484632"/>
          </a:xfrm>
          <a:prstGeom prst="roundRect">
            <a:avLst/>
          </a:prstGeom>
          <a:solidFill>
            <a:srgbClr val="ECE3FC"/>
          </a:solidFill>
          <a:ln w="12700">
            <a:solidFill>
              <a:srgbClr val="ECE3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4864608" y="48554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(Demo)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104888" y="4828032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7452360" y="4818888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→ Cambiar estado</a:t>
            </a:r>
            <a:endParaRPr lang="en-US" sz="1400" dirty="0"/>
          </a:p>
        </p:txBody>
      </p:sp>
      <p:pic>
        <p:nvPicPr>
          <p:cNvPr id="28" name="Audio 27">
            <a:hlinkClick r:id="" action="ppaction://media"/>
            <a:extLst>
              <a:ext uri="{FF2B5EF4-FFF2-40B4-BE49-F238E27FC236}">
                <a16:creationId xmlns:a16="http://schemas.microsoft.com/office/drawing/2014/main" id="{EF3B75EF-55FB-74F2-AF5D-0193F0163A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010"/>
    </mc:Choice>
    <mc:Fallback>
      <p:transition spd="slow" advTm="520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"/>
          </a:xfrm>
          <a:prstGeom prst="rect">
            <a:avLst/>
          </a:prstGeom>
          <a:solidFill>
            <a:srgbClr val="6553A2"/>
          </a:solidFill>
          <a:ln w="12700">
            <a:solidFill>
              <a:srgbClr val="6553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ACADÉMICO · COM-437ES-AVO1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vistas, responsabilidades distintas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6437376"/>
            <a:ext cx="10835640" cy="0"/>
          </a:xfrm>
          <a:prstGeom prst="line">
            <a:avLst/>
          </a:prstGeom>
          <a:solidFill>
            <a:srgbClr val="FFFFFF"/>
          </a:solidFill>
          <a:ln w="12700">
            <a:solidFill>
              <a:srgbClr val="DCC9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67512" y="651052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7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HUELLITAS DEL VIAJERO   •   OCTUBRE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09376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pic>
        <p:nvPicPr>
          <p:cNvPr id="8" name="Image 0" descr="/mnt/data/_huellitas_m8_final/cropped/03-formulario-ca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3956" y="1426464"/>
            <a:ext cx="2149928" cy="4517136"/>
          </a:xfrm>
          <a:prstGeom prst="rect">
            <a:avLst/>
          </a:prstGeom>
        </p:spPr>
      </p:pic>
      <p:pic>
        <p:nvPicPr>
          <p:cNvPr id="9" name="Image 1" descr="/mnt/data/_huellitas_m8_final/cropped/04-panel-pendien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582" y="1426464"/>
            <a:ext cx="2106852" cy="45171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33672" y="1938528"/>
            <a:ext cx="3639312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4572000" y="2185416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572000" y="2734056"/>
            <a:ext cx="29535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un caso ficticio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 ubicación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 un reporte local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0" y="4224528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ADMINISTRADOR DEMO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0" y="4636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y cambia el estado</a:t>
            </a:r>
            <a:endParaRPr lang="en-US" sz="1300" dirty="0"/>
          </a:p>
        </p:txBody>
      </p: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13825E14-929C-1F2C-DEA9-98605590FC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020"/>
    </mc:Choice>
    <mc:Fallback>
      <p:transition spd="slow" advTm="540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"/>
          </a:xfrm>
          <a:prstGeom prst="rect">
            <a:avLst/>
          </a:prstGeom>
          <a:solidFill>
            <a:srgbClr val="6553A2"/>
          </a:solidFill>
          <a:ln w="12700">
            <a:solidFill>
              <a:srgbClr val="6553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ACADÉMICO · COM-437ES-AVO1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Funcionalidades demostradas en Pixel 7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6437376"/>
            <a:ext cx="10835640" cy="0"/>
          </a:xfrm>
          <a:prstGeom prst="line">
            <a:avLst/>
          </a:prstGeom>
          <a:solidFill>
            <a:srgbClr val="FFFFFF"/>
          </a:solidFill>
          <a:ln w="12700">
            <a:solidFill>
              <a:srgbClr val="DCC9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67512" y="651052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7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HUELLITAS DEL VIAJERO   •   OCTUBRE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09376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499616"/>
            <a:ext cx="502920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088136" y="18288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3A8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1828800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 y nuevo panel visibles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88136" y="270662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3A8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2706624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ficticio aparece en el panel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88136" y="35844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3A8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600200" y="3584448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Estados: Pendiente, En revisión, Cerrado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88136" y="44622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3A8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600200" y="4462272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en campos vacíos</a:t>
            </a:r>
            <a:endParaRPr lang="en-US" sz="1500" dirty="0"/>
          </a:p>
        </p:txBody>
      </p:sp>
      <p:pic>
        <p:nvPicPr>
          <p:cNvPr id="17" name="Image 0" descr="/mnt/data/_huellitas_m8_final/cropped/08-validacion-camp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795" y="1554480"/>
            <a:ext cx="2079409" cy="4361688"/>
          </a:xfrm>
          <a:prstGeom prst="rect">
            <a:avLst/>
          </a:prstGeom>
        </p:spPr>
      </p:pic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1A9F244A-1F9B-6771-B448-070BE13EF1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767"/>
    </mc:Choice>
    <mc:Fallback>
      <p:transition spd="slow" advTm="617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"/>
          </a:xfrm>
          <a:prstGeom prst="rect">
            <a:avLst/>
          </a:prstGeom>
          <a:solidFill>
            <a:srgbClr val="6553A2"/>
          </a:solidFill>
          <a:ln w="12700">
            <a:solidFill>
              <a:srgbClr val="6553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ACADÉMICO · COM-437ES-AVO1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actual y límites reales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6437376"/>
            <a:ext cx="10835640" cy="0"/>
          </a:xfrm>
          <a:prstGeom prst="line">
            <a:avLst/>
          </a:prstGeom>
          <a:solidFill>
            <a:srgbClr val="FFFFFF"/>
          </a:solidFill>
          <a:ln w="12700">
            <a:solidFill>
              <a:srgbClr val="DCC9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67512" y="651052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7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HUELLITAS DEL VIAJERO   •   OCTUBRE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09376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27048"/>
            <a:ext cx="51206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978408" y="1746504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implementado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78408" y="2276856"/>
            <a:ext cx="46268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Studio + Kotlin + Jetpack Compose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 local en código con SharedPreferences y JSON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 y estados demostrativos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153912" y="1527048"/>
            <a:ext cx="51206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400800" y="1746504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todavía no ofrecemos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276856"/>
            <a:ext cx="46268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hay cuentas reales ni autenticación.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existe backend, sincronización o pagos.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conectan organizaciones de rescate ni se atienden casos reales.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822960" y="5907024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pendiente: repetir la prueba tras cerrar y reabrir la aplicación y guardar la evidencia.</a:t>
            </a:r>
            <a:endParaRPr lang="en-US" sz="1300" dirty="0"/>
          </a:p>
        </p:txBody>
      </p: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6E47481A-E615-704C-3A22-3300710B00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7955"/>
    </mc:Choice>
    <mc:Fallback>
      <p:transition spd="slow" advTm="779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"/>
          </a:xfrm>
          <a:prstGeom prst="rect">
            <a:avLst/>
          </a:prstGeom>
          <a:solidFill>
            <a:srgbClr val="6553A2"/>
          </a:solidFill>
          <a:ln w="12700">
            <a:solidFill>
              <a:srgbClr val="6553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ACADÉMICO · COM-437ES-AVO1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podría crecer el proyecto?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6437376"/>
            <a:ext cx="10835640" cy="0"/>
          </a:xfrm>
          <a:prstGeom prst="line">
            <a:avLst/>
          </a:prstGeom>
          <a:solidFill>
            <a:srgbClr val="FFFFFF"/>
          </a:solidFill>
          <a:ln w="12700">
            <a:solidFill>
              <a:srgbClr val="DCC9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67512" y="651052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7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HUELLITAS DEL VIAJERO   •   OCTUBRE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09376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682496"/>
            <a:ext cx="3511296" cy="3529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868680" y="1892808"/>
            <a:ext cx="621792" cy="621792"/>
          </a:xfrm>
          <a:prstGeom prst="ellipse">
            <a:avLst/>
          </a:prstGeom>
          <a:solidFill>
            <a:srgbClr val="E4D7F9"/>
          </a:solidFill>
          <a:ln w="12700">
            <a:solidFill>
              <a:srgbClr val="E4D7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060704" y="201168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77824" y="2761488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8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la experiencia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77824" y="3575304"/>
            <a:ext cx="29992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facilidad de uso, errores, accesibilidad y persistencia con casos ficticios.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17136" y="1682496"/>
            <a:ext cx="3511296" cy="3529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727448" y="1892808"/>
            <a:ext cx="621792" cy="621792"/>
          </a:xfrm>
          <a:prstGeom prst="ellipse">
            <a:avLst/>
          </a:prstGeom>
          <a:solidFill>
            <a:srgbClr val="E4D7F9"/>
          </a:solidFill>
          <a:ln w="12700">
            <a:solidFill>
              <a:srgbClr val="E4D7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19472" y="201168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6592" y="2761488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8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confianza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736592" y="3575304"/>
            <a:ext cx="29992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 privacidad, autenticación, moderación y permisos administrativos.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75904" y="1682496"/>
            <a:ext cx="3511296" cy="3529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8586216" y="1892808"/>
            <a:ext cx="621792" cy="621792"/>
          </a:xfrm>
          <a:prstGeom prst="ellipse">
            <a:avLst/>
          </a:prstGeom>
          <a:solidFill>
            <a:srgbClr val="E4D7F9"/>
          </a:solidFill>
          <a:ln w="12700">
            <a:solidFill>
              <a:srgbClr val="E4D7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8778240" y="201168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95360" y="2761488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8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Conectar aliados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595360" y="3575304"/>
            <a:ext cx="29992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 pilotos con fundaciones, procesos de verificación y seguimiento responsable.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55138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Crecimiento gradual, sin prometer usuarios, adopciones o ingresos todavía no medidos.</a:t>
            </a:r>
            <a:endParaRPr lang="en-US" sz="1600" dirty="0"/>
          </a:p>
        </p:txBody>
      </p:sp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279DDD88-0C07-7EF5-D0C4-EB12A80546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303"/>
    </mc:Choice>
    <mc:Fallback>
      <p:transition spd="slow" advTm="693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"/>
          </a:xfrm>
          <a:prstGeom prst="rect">
            <a:avLst/>
          </a:prstGeom>
          <a:solidFill>
            <a:srgbClr val="6553A2"/>
          </a:solidFill>
          <a:ln w="12700">
            <a:solidFill>
              <a:srgbClr val="6553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ACADÉMICO · COM-437ES-AVO1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para un posible piloto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6437376"/>
            <a:ext cx="10835640" cy="0"/>
          </a:xfrm>
          <a:prstGeom prst="line">
            <a:avLst/>
          </a:prstGeom>
          <a:solidFill>
            <a:srgbClr val="FFFFFF"/>
          </a:solidFill>
          <a:ln w="12700">
            <a:solidFill>
              <a:srgbClr val="DCC9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67512" y="651052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7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HUELLITAS DEL VIAJERO   •   OCTUBRE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09376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572768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996696" y="1792224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buscaríamos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96696" y="2322576"/>
            <a:ext cx="46725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organización aliada para revisar necesidades reales, definir un flujo de validación y evaluar si una herramienta móvil aporta claridad a los reportes.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236208" y="1572768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483096" y="1792224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evaluaríamos el valor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83096" y="2322576"/>
            <a:ext cx="46725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Facilidad de uso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y completitud de reportes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 de verificación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22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Protección de datos y seguimiento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1033272" y="5943600"/>
            <a:ext cx="10030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553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solicitamos inversión con cifras inventadas: presentamos un MVP académico y un camino de validación.</a:t>
            </a:r>
            <a:endParaRPr lang="en-US" sz="1300" dirty="0"/>
          </a:p>
        </p:txBody>
      </p: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F0ECF870-348F-5A1F-64BE-4CA52EB4CB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094"/>
    </mc:Choice>
    <mc:Fallback>
      <p:transition spd="slow" advTm="660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8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" y="987552"/>
            <a:ext cx="996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tecnología puede ayudar,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proceso inspira confianza.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DCC9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Huellitas del Viajero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8503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proyecto académico listo para mostrar, aprender y seguir mejorando.</a:t>
            </a:r>
            <a:endParaRPr lang="en-US" sz="1800" dirty="0"/>
          </a:p>
        </p:txBody>
      </p:sp>
      <p:pic>
        <p:nvPicPr>
          <p:cNvPr id="5" name="Image 0" descr="/mnt/data/_huellitas_m8_final/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983480"/>
            <a:ext cx="2788920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" y="6080760"/>
            <a:ext cx="10515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y documentación: github.com/jopingipv4/huellitas-del-viajero</a:t>
            </a:r>
            <a:endParaRPr lang="en-US" sz="1200" dirty="0"/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92417B04-5ADF-14A0-69AB-B15F88C0EC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421"/>
    </mc:Choice>
    <mc:Fallback>
      <p:transition spd="slow" advTm="1014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1122</Words>
  <Application>Microsoft Office PowerPoint</Application>
  <PresentationFormat>Panorámica</PresentationFormat>
  <Paragraphs>138</Paragraphs>
  <Slides>10</Slides>
  <Notes>10</Notes>
  <HiddenSlides>0</HiddenSlides>
  <MMClips>10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Huellitas del Viajero – Presentación M8</dc:title>
  <dc:subject>Pitch académico Huellitas del Viajero COM-437ES-AVO1</dc:subject>
  <dc:creator>Johan Dario Tellez Bonilla</dc:creator>
  <cp:lastModifiedBy>Johan Dario Tellez Bonilla</cp:lastModifiedBy>
  <cp:revision>2</cp:revision>
  <dcterms:created xsi:type="dcterms:W3CDTF">2026-10-19T02:59:17Z</dcterms:created>
  <dcterms:modified xsi:type="dcterms:W3CDTF">2026-10-19T03:38:47Z</dcterms:modified>
</cp:coreProperties>
</file>